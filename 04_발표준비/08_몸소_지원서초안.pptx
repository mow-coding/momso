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E6657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023360"/>
            <a:ext cx="3291840" cy="3291840"/>
          </a:xfrm>
          <a:prstGeom prst="ellipse">
            <a:avLst/>
          </a:prstGeom>
          <a:solidFill>
            <a:srgbClr val="1C4A4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InBodyLIKE 2026  ·  지원서 초안 (생각정리 §0~§6)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841248" y="3154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몸소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 사라지는 말·교정·감각을, 강사가 검수해 개인 수련 기록으로 남깁니다.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41248" y="4892040"/>
            <a:ext cx="2926080" cy="0"/>
          </a:xfrm>
          <a:prstGeom prst="line">
            <a:avLst/>
          </a:prstGeom>
          <a:noFill/>
          <a:ln w="25400">
            <a:solidFill>
              <a:srgbClr val="C8A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빅블루 요가  ·  공동대표 유동환 · 김성균  ·  서울 연희동      |      2026.06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— 심사자에겐 헤드라인, 소비자에겐 비전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1874520"/>
          </a:xfrm>
          <a:prstGeom prst="roundRect">
            <a:avLst>
              <a:gd name="adj" fmla="val 3415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385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심사자용 헤드라인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 사라지는 </a:t>
            </a:r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말·교정·감각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</a:t>
            </a:r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강사가 검수해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개인 수련 기록으로 남긴다.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40680" cy="1874520"/>
          </a:xfrm>
          <a:prstGeom prst="roundRect">
            <a:avLst>
              <a:gd name="adj" fmla="val 3415"/>
            </a:avLst>
          </a:prstGeom>
          <a:solidFill>
            <a:srgbClr val="163F38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9385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소비자용 비전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그렇게 쌓이면 momso는 내 몸을 가장 잘 아는 </a:t>
            </a:r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'세컨드 바디'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된다.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" y="38221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인바디는 헤드라인에 두지 않는다 — '첫 정량 데이터 파트너'(필수·종속 아님).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43159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momso가 아닌 것 — 이미 포화된 포지션은 피한다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736592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DDE9E3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7365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요가원 CRM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07208" y="4736592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DDE9E3"/>
          </a:solidFill>
          <a:ln/>
        </p:spPr>
      </p:sp>
      <p:sp>
        <p:nvSpPr>
          <p:cNvPr id="17" name="Text 15"/>
          <p:cNvSpPr/>
          <p:nvPr/>
        </p:nvSpPr>
        <p:spPr>
          <a:xfrm>
            <a:off x="2807208" y="47365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예약·결제 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0056" y="4736592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DDE9E3"/>
          </a:solidFill>
          <a:ln/>
        </p:spPr>
      </p:sp>
      <p:sp>
        <p:nvSpPr>
          <p:cNvPr id="19" name="Text 17"/>
          <p:cNvSpPr/>
          <p:nvPr/>
        </p:nvSpPr>
        <p:spPr>
          <a:xfrm>
            <a:off x="5020056" y="47365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웰니스 패스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32904" y="4736592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DDE9E3"/>
          </a:solidFill>
          <a:ln/>
        </p:spPr>
      </p:sp>
      <p:sp>
        <p:nvSpPr>
          <p:cNvPr id="21" name="Text 19"/>
          <p:cNvSpPr/>
          <p:nvPr/>
        </p:nvSpPr>
        <p:spPr>
          <a:xfrm>
            <a:off x="7232904" y="47365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AI 회의록 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45752" y="4736592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DDE9E3"/>
          </a:solidFill>
          <a:ln/>
        </p:spPr>
      </p:sp>
      <p:sp>
        <p:nvSpPr>
          <p:cNvPr id="23" name="Text 21"/>
          <p:cNvSpPr/>
          <p:nvPr/>
        </p:nvSpPr>
        <p:spPr>
          <a:xfrm>
            <a:off x="9445752" y="47365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장비 판매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§0 워크시트 결론(헤드라인/비전 분리, 인바디 헤드라인 제외) · 노트 06 정의·제품원칙.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지원서 초안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통점, 두 얼굴 — 수업의 핵심은 끝나면 사라진다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74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통점 — </a:t>
            </a:r>
            <a:pPr indent="0" marL="0">
              <a:buNone/>
            </a:pPr>
            <a:r>
              <a:rPr lang="en-US" sz="16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 오간 말·교정·감각이 </a:t>
            </a:r>
            <a:pPr indent="0" marL="0">
              <a:buNone/>
            </a:pPr>
            <a:r>
              <a:rPr lang="en-US" sz="1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수업이 끝나면 휘발된다.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440680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99232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C58B7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992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수련생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611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58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36301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일상에서 수업 내용을 다시 못 쓴다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417880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58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419709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부위를 또 다친다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74573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58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7640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몸이 어떻게 변하는지 모른다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2200" y="2788920"/>
            <a:ext cx="5440680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2999232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2E665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9992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· 운영자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611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66560" y="36301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수십 명을 다 기억·관리할 수 없다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417880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66560" y="419709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쌓은 전문성이 기록으로 안 남는다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474573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66560" y="47640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변화를 못 보여줘 재방문을 놓친다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§1 워크시트(한 통점·두 얼굴) · 빅블루 리뷰 123건 분석(2026-05-08) · 5/13 기획회의.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지원서 초안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3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572000" cy="4572000"/>
          </a:xfrm>
          <a:prstGeom prst="ellipse">
            <a:avLst/>
          </a:prstGeom>
          <a:solidFill>
            <a:srgbClr val="1C4A4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KILLER INSIGHT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변화는 일어나는데,
</a:t>
            </a:r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강사는 </a:t>
            </a:r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보여줄 수 없고</a:t>
            </a:r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수련생은 </a:t>
            </a:r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 수 없다.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1248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동기를 줄 자극점이 안 생기고, 재방문이 끊긴다.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4526280"/>
            <a:ext cx="10515600" cy="1234440"/>
          </a:xfrm>
          <a:prstGeom prst="roundRect">
            <a:avLst>
              <a:gd name="adj" fmla="val 5185"/>
            </a:avLst>
          </a:prstGeom>
          <a:solidFill>
            <a:srgbClr val="1C4A41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47548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인바디가 변화를 </a:t>
            </a:r>
            <a:pPr indent="0" marL="0">
              <a:buNone/>
            </a:pPr>
            <a:r>
              <a:rPr lang="en-US" sz="1700" b="1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'보이게'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하고, momso가 그 변화에 </a:t>
            </a:r>
            <a:pPr indent="0" marL="0">
              <a:buNone/>
            </a:pPr>
            <a:r>
              <a:rPr lang="en-US" sz="17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'수업의 의미'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입힌다.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60533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웰니스 유료 고객의 80~90%가 여성 [현장 관찰] — '변화를 함께 본다(참고값)'로 표현, '살을 뺀다' 아님.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지금까지 못 풀었나 — 비어 있는 '수업 맥락 기록 계층'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CRM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바디코디 등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6700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기록: 예약·결제만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82880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예약·패스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331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오붓 등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20440" y="26700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기록: 수업 접근만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전사·회의록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331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Tiro 등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09360" y="26700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기록: 음성→글만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15400" y="182880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9828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98280" y="2331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 등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098280" y="26700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기록: 몸 수치만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11064240" cy="1828800"/>
          </a:xfrm>
          <a:prstGeom prst="roundRect">
            <a:avLst>
              <a:gd name="adj" fmla="val 3500"/>
            </a:avLst>
          </a:prstGeom>
          <a:solidFill>
            <a:srgbClr val="163F38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39776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누구도 기록하지 않는 칸 = </a:t>
            </a:r>
            <a:pPr indent="0" marL="0">
              <a:buNone/>
            </a:pPr>
            <a:r>
              <a:rPr lang="en-US" sz="19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안의 언어·피드백·감각·반응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14400" y="45262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관리 → 수업 기록 (가로축),  정량 신체 → 정성 맥락 (세로축) 의 2×2에서, momso는 '수업 기록 × 정성 맥락' 사분면을 차지한다. 인바디와 결합하면 정량+정성 하이브리드.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§1·§2 경쟁 비교 · 노트 06 포지셔닝 · 외부 경쟁/시장 리서치(2026-05-26).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지원서 초안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흐름 — AI는 초안만, 강사가 확정한다 (HITL)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1389888" cy="1051560"/>
          </a:xfrm>
          <a:prstGeom prst="roundRect">
            <a:avLst>
              <a:gd name="adj" fmla="val 6087"/>
            </a:avLst>
          </a:prstGeom>
          <a:solidFill>
            <a:srgbClr val="DDE9E3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63347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0358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참고지표·초점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74520" y="2468880"/>
            <a:ext cx="173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48256" y="2468880"/>
            <a:ext cx="1389888" cy="1051560"/>
          </a:xfrm>
          <a:prstGeom prst="roundRect">
            <a:avLst>
              <a:gd name="adj" fmla="val 6087"/>
            </a:avLst>
          </a:prstGeom>
          <a:solidFill>
            <a:srgbClr val="DDE9E3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48256" y="263347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48256" y="30358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강사만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19856" y="2468880"/>
            <a:ext cx="173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93592" y="2468880"/>
            <a:ext cx="1389888" cy="1051560"/>
          </a:xfrm>
          <a:prstGeom prst="roundRect">
            <a:avLst>
              <a:gd name="adj" fmla="val 6087"/>
            </a:avLst>
          </a:prstGeom>
          <a:solidFill>
            <a:srgbClr val="DDE9E3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93592" y="263347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초안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93592" y="30358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전사·요약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65192" y="2468880"/>
            <a:ext cx="173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38928" y="2468880"/>
            <a:ext cx="1389888" cy="1051560"/>
          </a:xfrm>
          <a:prstGeom prst="roundRect">
            <a:avLst>
              <a:gd name="adj" fmla="val 6087"/>
            </a:avLst>
          </a:prstGeom>
          <a:solidFill>
            <a:srgbClr val="C8A04A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38928" y="263347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검수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38928" y="30358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BE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공유/내부/보류/제외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10528" y="2468880"/>
            <a:ext cx="173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84264" y="2468880"/>
            <a:ext cx="1389888" cy="1051560"/>
          </a:xfrm>
          <a:prstGeom prst="roundRect">
            <a:avLst>
              <a:gd name="adj" fmla="val 6087"/>
            </a:avLst>
          </a:prstGeom>
          <a:solidFill>
            <a:srgbClr val="DDE9E3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84264" y="263347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84264" y="30358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검수본만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55864" y="2468880"/>
            <a:ext cx="173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29600" y="2468880"/>
            <a:ext cx="1389888" cy="1051560"/>
          </a:xfrm>
          <a:prstGeom prst="roundRect">
            <a:avLst>
              <a:gd name="adj" fmla="val 6087"/>
            </a:avLst>
          </a:prstGeom>
          <a:solidFill>
            <a:srgbClr val="DDE9E3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0" y="263347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축적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0" y="30358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회원별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601200" y="2468880"/>
            <a:ext cx="173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774936" y="2468880"/>
            <a:ext cx="1389888" cy="1051560"/>
          </a:xfrm>
          <a:prstGeom prst="roundRect">
            <a:avLst>
              <a:gd name="adj" fmla="val 6087"/>
            </a:avLst>
          </a:prstGeom>
          <a:solidFill>
            <a:srgbClr val="DDE9E3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774936" y="263347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74936" y="30358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수업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3977640"/>
            <a:ext cx="11064240" cy="1600200"/>
          </a:xfrm>
          <a:prstGeom prst="roundRect">
            <a:avLst>
              <a:gd name="adj" fmla="val 4000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= 강사 검수(HITL)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2960" y="455371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초안만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만들고,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강사가 초점 단위로 검수해 확정한 것만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발행한다. 원본 음성·전체 전사는 기본 비공개.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검수된 기록은 회원별로 쌓여 다음 수업 맥락으로 환류된다.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§2 워크시트 · PRD v1(2026-06-03) · 데이터 3계층(raw→metadata→shareable).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지원서 초안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— ① 검수+수업맥락, ② 게다가 데이터 주권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163F38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385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첫째 차별점 (해자)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HITL + 수업 맥락 기록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724912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요가의 민감성(노하우·개인·타인정보)을 강사가 검수해, 검수본만 회원별로 장기 축적. AI 회의록·CRM엔 구조 자체가 없다.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9385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둘째 차별점 (게다가)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2677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· 데이터 주권 (BYOK)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724912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자기 AI 키로 연결 → 추가금 없이 + 데이터는 고객 소유. 네이버·클로드 '간편 연동'으로 부담은 우리가 흡수(S11).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9136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"걔네는 X를 기록, 우리는 Y를 기록 — 그리고 강사가 검수한다"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바디코디(CRM)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00400" y="4297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센터 운영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75120" y="4297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momso: </a:t>
            </a:r>
            <a:pPr indent="0" marL="0">
              <a:buNone/>
            </a:pPr>
            <a:r>
              <a:rPr lang="en-US" sz="11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경험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6451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오붓(예약)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0" y="46451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 가게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75120" y="46451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momso: </a:t>
            </a:r>
            <a:pPr indent="0" marL="0">
              <a:buNone/>
            </a:pPr>
            <a:r>
              <a:rPr lang="en-US" sz="11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수업이 남게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49926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Tiro(전사)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00400" y="49926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음성을 글로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75120" y="49926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momso: </a:t>
            </a:r>
            <a:pPr indent="0" marL="0">
              <a:buNone/>
            </a:pPr>
            <a:r>
              <a:rPr lang="en-US" sz="11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수업을 수련 기록으로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3400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인바디(측정)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00400" y="53400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몸의 스펙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75120" y="53400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momso: </a:t>
            </a:r>
            <a:pPr indent="0" marL="0">
              <a:buNone/>
            </a:pPr>
            <a:r>
              <a:rPr lang="en-US" sz="11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수업에서의 변화·의미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5687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포인티(운동)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00400" y="5687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 운동기록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675120" y="56875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momso: </a:t>
            </a:r>
            <a:pPr indent="0" marL="0">
              <a:buNone/>
            </a:pPr>
            <a:r>
              <a:rPr lang="en-US" sz="11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요가 맥락·감각 + 검수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지원서 초안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작동하는 것 — momso.vercel.app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74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만들었다. </a:t>
            </a:r>
            <a:pPr indent="0" marL="0">
              <a:buNone/>
            </a:pPr>
            <a:r>
              <a:rPr lang="en-US" sz="15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작동하는 모바일 웹앱 데모 — 강사용 5탭 · 수련생용 4탭 · 발행 게이트·면책 구현.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44068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971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데모의 주인공 — 강사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위키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37947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수업을 정리하고, 회원별 맥락을 다음 수업으로 불러온다. 6/12 데모는 이 강사 흐름을 완성형으로 보여준다.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2788920"/>
            <a:ext cx="5440680" cy="2743200"/>
          </a:xfrm>
          <a:prstGeom prst="roundRect">
            <a:avLst>
              <a:gd name="adj" fmla="val 2333"/>
            </a:avLst>
          </a:prstGeom>
          <a:solidFill>
            <a:srgbClr val="163F38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2971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 — 수련생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세컨드 바디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37947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기록이 쌓일수록 AI가 내 몸 맥락을 이해한다. 지금은 PoC로 검증 — '구현 완료'로 단정하지 않는다.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§2 워크시트(LLM 주인공=강사 데모/수련생 비전) · InbodylikePrototype.tsx(2026-06-02~03).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지원서 초안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— 요가 쐐기로 검증, 인바디 깔린 필라·PT로 확장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120640" cy="3749040"/>
          </a:xfrm>
          <a:prstGeom prst="roundRect">
            <a:avLst>
              <a:gd name="adj" fmla="val 1707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38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규모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395728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163F3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95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2340864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체육·웰니스 사업체 131,764곳 — 89.9%가 1~4인 소규모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38328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163F3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83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3328416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요가+필라+PT 프리미엄 참여형 스튜디오 (수도권 중심) [가정]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370832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163F3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3708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431596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3년차 500곳(기본) ~ 1,000곳(공격)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06440" y="1783080"/>
            <a:ext cx="5806440" cy="374904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35040" y="19385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시장 → 확장 (좁게 시작해 넓힌다)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2377440"/>
            <a:ext cx="384048" cy="384048"/>
          </a:xfrm>
          <a:prstGeom prst="ellipse">
            <a:avLst/>
          </a:prstGeom>
          <a:solidFill>
            <a:srgbClr val="C8A04A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235915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요가 쐐기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빅블루 + 연희동 1:1·소그룹 — 가장 어려운 도메인에서 증명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35040" y="3154680"/>
            <a:ext cx="384048" cy="384048"/>
          </a:xfrm>
          <a:prstGeom prst="ellipse">
            <a:avLst/>
          </a:prstGeom>
          <a:solidFill>
            <a:srgbClr val="2E6657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313639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연희동 클러스터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밀집 지역 레퍼런스 확산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35040" y="3931920"/>
            <a:ext cx="384048" cy="384048"/>
          </a:xfrm>
          <a:prstGeom prst="ellipse">
            <a:avLst/>
          </a:prstGeom>
          <a:solidFill>
            <a:srgbClr val="2E6657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391363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필라·PT (인바디 풍부)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 레버리지 본격화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035040" y="4709160"/>
            <a:ext cx="384048" cy="384048"/>
          </a:xfrm>
          <a:prstGeom prst="ellipse">
            <a:avLst/>
          </a:prstGeom>
          <a:solidFill>
            <a:srgbClr val="7FA899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37960" y="469087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인바디·몸 관심 일반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가정용 인바디 소비자까지 [확장]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035040" y="5029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"가장 까다로운 요가에서 인바디 없이도 통하게 만들고 → 인바디가 깔린 필라·PT로 넘어가 협업을 키운다."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공식 통계(사업체 131,764·89.9% 1~4인) · §3 워크시트(요가 쐐기→필라/PT 확장). 슬라이드13 하위숫자 교체 권고는 메모 참조.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지원서 초안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— 고정비가 아니라 '재방문 투자'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2331720"/>
          </a:xfrm>
          <a:prstGeom prst="roundRect">
            <a:avLst>
              <a:gd name="adj" fmla="val 2745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티어 — 역할이 다르다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 월 30만 (주 매출)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위키·운영효율·재방문·차별화 마케팅. 회원 1~2명만 더 잡아도 회수 — 비용이 아니라 투자.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B2C  월 7천 (바이럴 엔진)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수련생 기록권. 싸야 한다 — 입소문이 원장을 끌어온다(B2B2C).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163F38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389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곳당 월 매출 (회원 80~120명 가정)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7548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41~47만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(전환 20%)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→  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58~72만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(전환 50%·성숙)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783080"/>
            <a:ext cx="5440680" cy="374904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938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3년차 연 매출 — 조건을 붙여 말한다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2423160"/>
            <a:ext cx="4983480" cy="868680"/>
          </a:xfrm>
          <a:prstGeom prst="roundRect">
            <a:avLst>
              <a:gd name="adj" fmla="val 7368"/>
            </a:avLst>
          </a:prstGeom>
          <a:solidFill>
            <a:srgbClr val="DDE9E3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29400" y="2532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(보수)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32520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20~26억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62940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500곳 · 발표에서 먼저 말하는 숫자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3410712"/>
            <a:ext cx="4983480" cy="868680"/>
          </a:xfrm>
          <a:prstGeom prst="roundRect">
            <a:avLst>
              <a:gd name="adj" fmla="val 7368"/>
            </a:avLst>
          </a:prstGeom>
          <a:solidFill>
            <a:srgbClr val="C8A04A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2940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성숙 (전환 50%)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32520" y="35021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35~39억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629400" y="38679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완성·마케팅 가정의 상단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0" y="4398264"/>
            <a:ext cx="4983480" cy="868680"/>
          </a:xfrm>
          <a:prstGeom prst="roundRect">
            <a:avLst>
              <a:gd name="adj" fmla="val 7368"/>
            </a:avLst>
          </a:prstGeom>
          <a:solidFill>
            <a:srgbClr val="163F38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29400" y="45079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 (조건부)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32520" y="448970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60억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629400" y="48554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1,000곳 + 유료 30명 — 조건부로만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§3 워크시트(전환율 50%=성숙 가정·동환님 추정) · BM 노트(기본 20~26억·60억은 공격 시나리오). 회원수·전환율은 [가정], PoC로 실측.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지원서 초안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SOVEREIGNTY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BYOK의 부담은 우리가 흡수한다 — '간편 연동'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20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"BYOK가 장점"이라고만 쓰면 역효과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자유는 곧 부담. "그럼 내가 따로 구독하고 API 키를 발급하라고?"  → 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부담을 우리가 흡수한다.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440680" cy="2468880"/>
          </a:xfrm>
          <a:prstGeom prst="roundRect">
            <a:avLst>
              <a:gd name="adj" fmla="val 2593"/>
            </a:avLst>
          </a:prstGeom>
          <a:solidFill>
            <a:srgbClr val="163F38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간편 연동 (스폰서 인프라)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639312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네이버 오브젝트 스토리지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간편 연동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앤트로픽 클로드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간편 연동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키·발급을 의식하지 않고 '연동 켜기'만. (InBodyLIKE 스폰서 = 네이버·앤트로픽)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3063240"/>
            <a:ext cx="544068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발레파킹 BM — 데이터 주권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3639312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고객 소유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(data plane)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momso는 운영만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(control plane)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"우리는 고객 데이터를 팔거나 가두지 않는다" → 민감 데이터를 믿고 맡기는 신뢰 + 가격 정당화.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§3 워크시트(Joplin=OneDrive 호환 인사이트) · web2.5 가입대행 BM. ⚠️ '별도 결제 없이'는 스폰서 크레딧 확정 시 추가(서류 통과 후 확인).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지원서 초안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우리 — 요가를 '아는' 사람과 '만드는' 사람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38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유동환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요가 도메인 · 현장 PoC(빅블루) · 연희동 네트워크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증거: 연희 요가 위크 1,677명(정산 기준) · 리뷰 123건 · 리뷰 밀도 2위/채움률 93.0%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163F38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938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김성균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· 기술 · 문서화 · 데이터 주권 설계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증거: 작동하는 momso.vercel.app · 아키텍처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"개발자도 없는데 되나?" — 3단 방어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279392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이미 작동하는 데모 = 증거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AI 보조개발로 2인이 PoC 도달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채용은 투자 후 (불확실성 전가 안 함)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749040"/>
            <a:ext cx="5440680" cy="1783080"/>
          </a:xfrm>
          <a:prstGeom prst="roundRect">
            <a:avLst>
              <a:gd name="adj" fmla="val 3590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 공백 — 4중 보완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279392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창업자 직접영업 · 연희동 클러스터 등대 · B2C-pull(inbound) · 인바디 파트너 채널  → playbook 검증 후 영업 매니저 채용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§4 워크시트 · 영업 채용·투자 원칙(2026-06-05). 가장 부족한 역할=영업(정직).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지원서 초안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PARTNERSHIP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 협업 — win-win, 그리고 과장하지 않는 연동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2331720"/>
          </a:xfrm>
          <a:prstGeom prst="roundRect">
            <a:avLst>
              <a:gd name="adj" fmla="val 2745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인바디가 얻는 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인바디: 요가원 미점유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5420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요가 도메인 진입 통로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28529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인바디: 측정값의 '그래서 뭐?'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수업 맥락으로 변화를 설명 → 앱 가치↑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4198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인바디: 정량 일변도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367588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정성+HITL로 신뢰·주권 결 맞춤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1783080"/>
            <a:ext cx="54406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연동 로드맵 — '즉시 직결' 약속 안 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2331720"/>
            <a:ext cx="347472" cy="347472"/>
          </a:xfrm>
          <a:prstGeom prst="ellipse">
            <a:avLst/>
          </a:prstGeom>
          <a:solidFill>
            <a:srgbClr val="C8A0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입력 (즉시)  </a:t>
            </a:r>
            <a:pPr indent="0" marL="0">
              <a:buNone/>
            </a:pPr>
            <a:r>
              <a:rPr lang="en-US" sz="10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불필요 — 지금 작동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2898648"/>
            <a:ext cx="347472" cy="347472"/>
          </a:xfrm>
          <a:prstGeom prst="ellipse">
            <a:avLst/>
          </a:prstGeom>
          <a:solidFill>
            <a:srgbClr val="2E665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898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986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연동 (협조)  </a:t>
            </a:r>
            <a:pPr indent="0" marL="0">
              <a:buNone/>
            </a:pPr>
            <a:r>
              <a:rPr lang="en-US" sz="10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 앱 데이터·센터찾기 (앱-앱)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3465576"/>
            <a:ext cx="347472" cy="347472"/>
          </a:xfrm>
          <a:prstGeom prst="ellipse">
            <a:avLst/>
          </a:prstGeom>
          <a:solidFill>
            <a:srgbClr val="7FA89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4655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API (심화)  </a:t>
            </a:r>
            <a:pPr indent="0" marL="0">
              <a:buNone/>
            </a:pPr>
            <a:r>
              <a:rPr lang="en-US" sz="10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계약·승인 후 직결 — 단계적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29768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163F38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44622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요청 = 작은 문을 먼저 연다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48280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API·계약이 아니라 → 빅블루 1곳에서 8~12주 공동 PoC + 데이터 해석 멘토링. 거절 비용이 낮고, 잘 되면 앱 연동·API는 자연히 따라온다.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§5 워크시트 · 인바디 앱-앱 연동 합의(2026-06-06) · 연동 타당성 리서치(2026-05-26).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지원서 초안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3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5120640" cy="5120640"/>
          </a:xfrm>
          <a:prstGeom prst="ellipse">
            <a:avLst/>
          </a:prstGeom>
          <a:solidFill>
            <a:srgbClr val="2E665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요청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인바디와 8~12주 공동 PoC.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41248" y="25146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데이터(인바디) × 수업 맥락(momso)의 재방문 효과를, 빅블루에서 함께 검증한다.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38328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C8A0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83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0" y="3383280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수업의 말·교정·감각은 끝나면 사라진다 — 변화가 안 보여 동기·재방문이 끊긴다.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4096512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C8A04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965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4096512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초안 → 강사 검수(HITL) → 회원별 축적. 작동하는 데모 보유.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809744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C8A04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80974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시장·BM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4809744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요가 쐐기→필라·PT 확장. B2B 30만+B2C 7천, 기본 20~26억(공격 60억은 조건부).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— 인바디는 몸의 스펙을, momso는 수업의 맥락을 기록합니다.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momso × InBodyLIKE 지원서 초안 (§0~§6)</dc:title>
  <dc:subject>PptxGenJS Presentation</dc:subject>
  <dc:creator>빅블루 요가 (momso)</dc:creator>
  <cp:lastModifiedBy>빅블루 요가 (momso)</cp:lastModifiedBy>
  <cp:revision>1</cp:revision>
  <dcterms:created xsi:type="dcterms:W3CDTF">2026-06-08T06:23:42Z</dcterms:created>
  <dcterms:modified xsi:type="dcterms:W3CDTF">2026-06-08T06:23:42Z</dcterms:modified>
</cp:coreProperties>
</file>