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2E66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651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BM · 경쟁사 비교 · 리스크 매트릭스 · 데이터 출처 · English Positioning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부록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· 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BM — 가격 · ARPA · 시나리오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가격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B2C 기록권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5,000~7,000원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수련생 개인 수련 기록권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PoC·파운딩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무료~4.9만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검증·협력 요가원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Software Basic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4.9~9.9만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기록·검수·발행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Studio Pro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15~30만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기록+리포트+세팅(프리미엄)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InBody Partner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30만+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인바디 연동형(별도 협의)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1828800"/>
            <a:ext cx="5257800" cy="2788920"/>
          </a:xfrm>
          <a:prstGeom prst="roundRect">
            <a:avLst>
              <a:gd name="adj" fmla="val 2295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경제 (요가원 1곳)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0" y="24688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ARPA = B2B 20만 + 수련생 20명×7천 = 월 34만 = 연 408만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ARPA = B2B 30만 + 20명×7천 = 월 44만 = 연 528만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[가정] 유료 수련생: 초기 5~10 · 성숙 20 · 공격 30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475488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163F38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3년차 시나리오 (연 매출)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0" y="52578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 300개 12.2~15.8억  ·  기준 500개 20.4~26.4억(발표)  ·  공격 1,000개 40.8~52.8억 (+30명 시 61.2억)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08 BM 정정표(GPT 검증). 60억은 기준 아닌 ‘1,000개+유료 30명’ 공격 시나리오로만.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부록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· COMPETITION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비교 (확인된 가격·규모)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310896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규모·비고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바디코디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CRM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 19.8만(약정 15.8만)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4,000센터·앱 170만+ / 헬스·필라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Mindbody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SaaS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$159~699/월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1위·고가·기능과다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TeamUp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SaaS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$104~309/월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인원수 과금·기능 잠금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리포트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비공개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★가장 가까운 경쟁(퍼스널 리포트)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오붓 / ClassPass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패스 플랫폼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수수료형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오붓 1,000파트너 / CP 25,000+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momso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6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 기록 레이어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6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B2C 5~7천 + B2B 4.9~30만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6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강사 검수·데이터 고객 소유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65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웹 리서치(메모 01). 바디코디·Mindbody·TeamUp 공식 가격(2026). 스튜디오메이트·포인티·엑스바디 가격은 비공개[확인 불가].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부록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 · RISK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매트릭스 — 위험과 대응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6492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대응(제품 구조)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F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개인정보·민감대화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8A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수업별 동의·원본 비공개·회원별 분리·민감 제외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의료·진단 표현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8A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‘참고·경향’만·‘진단 아님’ 면책 화면 명시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인바디 즉시연동 불가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결과지 업로드 → API는 계약·승인 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Tiro 의존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음성처리 후보 다변화(OpenAI·온디바이스·자체)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비용 마진 잠식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구독+초과 과금·BYOK·무제한 AI 금지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노하우 유출 우려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A33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수련생 무단녹음 금지·노출률 설정·다운로드 제한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노트 06 HITL · 노트 09 도메인 우려 · 노트 10 BM · 메모 01.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부록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84048" cy="384048"/>
          </a:xfrm>
          <a:prstGeom prst="ellipse">
            <a:avLst/>
          </a:prstGeom>
          <a:solidFill>
            <a:srgbClr val="163F3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 · SOURCES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3F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 · 신뢰도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520440" cy="3840480"/>
          </a:xfrm>
          <a:prstGeom prst="roundRect">
            <a:avLst>
              <a:gd name="adj" fmla="val 1818"/>
            </a:avLst>
          </a:prstGeom>
          <a:solidFill>
            <a:srgbClr val="F3F6F4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10312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163F3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· 확정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스포츠산업 사업체 131,764·매출 84.7조 (문체부 2024)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바디코디 가격 (공식 페이지)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 연동 3요건: 구독+신청+승인 (공식 FAQ)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ECW·부위별 위상각 제품별 차등 (공식 비교표)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InBodyLIKE 일정·분야 (inbodylike.com)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5968" y="1874520"/>
            <a:ext cx="3520440" cy="38404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1874520"/>
            <a:ext cx="3520440" cy="38404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5240">
            <a:solidFill>
              <a:srgbClr val="DDE9E3"/>
            </a:solidFill>
            <a:prstDash val="solid"/>
          </a:ln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210312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2E6657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 · 대리지표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0288" y="27432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TAM/SAM/SOM 규모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세부치(교육기관·체력단련장)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 매출 시나리오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스튜디오 CAGR ~11.5%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1874520"/>
            <a:ext cx="3520440" cy="38404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83296" y="1874520"/>
            <a:ext cx="3520440" cy="38404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5240">
            <a:solidFill>
              <a:srgbClr val="DDE9E3"/>
            </a:solidFill>
            <a:prstDash val="solid"/>
          </a:ln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11896" y="210312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6F7E78"/>
          </a:solidFill>
          <a:ln/>
        </p:spPr>
      </p:sp>
      <p:sp>
        <p:nvSpPr>
          <p:cNvPr id="18" name="Text 16"/>
          <p:cNvSpPr/>
          <p:nvPr/>
        </p:nvSpPr>
        <p:spPr>
          <a:xfrm>
            <a:off x="8311896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불가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57616" y="27432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요가원·필라테스 단독 수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스튜디오메이트·포인티·엑스바디 가격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인바디 공식 정가·렌탈가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33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Claude/네이버클라우드 크레딧 (단, 공식 PDF엔 기재)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원칙: 공식=단정 가능, 추정=‘추정·대리지표’ 표기, 확인 불가=단정 금지. Claude 크레딧은 운영팀 재확인 후 사용.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부록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3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754880" cy="4754880"/>
          </a:xfrm>
          <a:prstGeom prst="ellipse">
            <a:avLst/>
          </a:prstGeom>
          <a:solidFill>
            <a:srgbClr val="2E66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ENGLISH POSITIONING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— the missing record layer for wellness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InBody records the body's specs. momso records the class context.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5212080" cy="2743200"/>
          </a:xfrm>
          <a:prstGeom prst="roundRect">
            <a:avLst>
              <a:gd name="adj" fmla="val 2333"/>
            </a:avLst>
          </a:prstGeom>
          <a:solidFill>
            <a:srgbClr val="1F4A41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6118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teacher-reviewed record layer that turns the language, cues, and felt sensations of a yoga/wellness class into a personal practice record — and links them to InBody's quantitative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3017520"/>
            <a:ext cx="5120640" cy="2743200"/>
          </a:xfrm>
          <a:prstGeom prst="roundRect">
            <a:avLst>
              <a:gd name="adj" fmla="val 2333"/>
            </a:avLst>
          </a:prstGeom>
          <a:solidFill>
            <a:srgbClr val="1F4A41"/>
          </a:solidFill>
          <a:ln/>
          <a:effectLst>
            <a:outerShdw sx="100000" sy="100000" kx="0" ky="0" algn="bl" rotWithShape="0" blurRad="88900" dist="25400" dir="8100000">
              <a:srgbClr val="163F38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Principles &amp; 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361188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HITL: AI drafts, the teacher confirms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Originals private; only reviewed records are shared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Valet model: data stays customer-owned, momso operates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DE9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Aliases: “Voice Auto Archiving for Embodied Coaching”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momso × InBodyLIKE  ·  부록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momso × InBodyLIKE 사업계획서 — 부록</dc:title>
  <dc:subject>PptxGenJS Presentation</dc:subject>
  <dc:creator>PptxGenJS</dc:creator>
  <cp:lastModifiedBy>PptxGenJS</cp:lastModifiedBy>
  <cp:revision>1</cp:revision>
  <dcterms:created xsi:type="dcterms:W3CDTF">2026-06-07T18:26:05Z</dcterms:created>
  <dcterms:modified xsi:type="dcterms:W3CDTF">2026-06-07T18:26:05Z</dcterms:modified>
</cp:coreProperties>
</file>