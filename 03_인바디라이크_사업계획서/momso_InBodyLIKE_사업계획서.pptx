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기준 ARPA(연408만)</c:v>
                </c:pt>
              </c:strCache>
            </c:strRef>
          </c:tx>
          <c:spPr>
            <a:solidFill>
              <a:srgbClr val="7FA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63F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보수 300개</c:v>
                  </c:pt>
                  <c:pt idx="1">
                    <c:v>기준 500개</c:v>
                  </c:pt>
                  <c:pt idx="2">
                    <c:v>공격 1,000개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12.2</c:v>
                </c:pt>
                <c:pt idx="1">
                  <c:v>20.4</c:v>
                </c:pt>
                <c:pt idx="2">
                  <c:v>40.8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프리미엄 ARPA(연528만)</c:v>
                </c:pt>
              </c:strCache>
            </c:strRef>
          </c:tx>
          <c:spPr>
            <a:solidFill>
              <a:srgbClr val="163F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63F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보수 300개</c:v>
                  </c:pt>
                  <c:pt idx="1">
                    <c:v>기준 500개</c:v>
                  </c:pt>
                  <c:pt idx="2">
                    <c:v>공격 1,000개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15.8</c:v>
                </c:pt>
                <c:pt idx="1">
                  <c:v>26.4</c:v>
                </c:pt>
                <c:pt idx="2">
                  <c:v>52.8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63F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33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F7E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F7E78"/>
                    </a:solidFill>
                    <a:latin typeface="Arial"/>
                  </a:rPr>
                  <a:t>연 매출 (억원)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7E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332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023360"/>
            <a:ext cx="3291840" cy="3291840"/>
          </a:xfrm>
          <a:prstGeom prst="ellipse">
            <a:avLst/>
          </a:prstGeom>
          <a:solidFill>
            <a:srgbClr val="1C4A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InBodyLIKE 2026  ·  사업계획서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인바디는 몸의 스펙을, momso는 수업의 맥락을 기록합니다.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5029200"/>
            <a:ext cx="2926080" cy="0"/>
          </a:xfrm>
          <a:prstGeom prst="line">
            <a:avLst/>
          </a:prstGeom>
          <a:noFill/>
          <a:ln w="25400">
            <a:solidFill>
              <a:srgbClr val="C8A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빅블루 요가  ·  공동대표 유동환 · 김성균  ·  서울 연희동      |      2026.06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momso는 '수업 맥락 기록 레이어'입니다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488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요가·웰니스 수업의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· 교정 · 감각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검수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거쳐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수련 기록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바꾸는 서비스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momso가 아닌 것 — 이미 포화된 포지션은 피한다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3434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요가원 CRM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07208" y="43434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2" name="Text 10"/>
          <p:cNvSpPr/>
          <p:nvPr/>
        </p:nvSpPr>
        <p:spPr>
          <a:xfrm>
            <a:off x="2807208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예약·결제 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0056" y="43434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0056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웰니스 패스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32904" y="43434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6" name="Text 14"/>
          <p:cNvSpPr/>
          <p:nvPr/>
        </p:nvSpPr>
        <p:spPr>
          <a:xfrm>
            <a:off x="7232904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AI 회의록 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45752" y="43434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9E3"/>
          </a:solidFill>
          <a:ln/>
        </p:spPr>
      </p:sp>
      <p:sp>
        <p:nvSpPr>
          <p:cNvPr id="18" name="Text 16"/>
          <p:cNvSpPr/>
          <p:nvPr/>
        </p:nvSpPr>
        <p:spPr>
          <a:xfrm>
            <a:off x="9445752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인바디 장비 판매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06 정의와 제품원칙 · 거시 포지셔닝 리서치(GPT 고급이성).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75104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751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핵심(말·교정·감각)이 수업 후 사라진다. 기존 도구는 각자 일부만 기록.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90779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E665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077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23160" y="2715768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 → 강사 검수(HITL) → 개인 리포트. 작동하는 모바일 웹앱 데모 보유.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4048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E665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3648456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요가+필라테스+PT 프리미엄 스튜디오. SAM 4,000~8,000개 [추정].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58114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7731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2E665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73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23160" y="4581144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월 30만 + B2C 월 5~7천. 데이터는 고객 소유, momso는 운영(발레파킹).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51383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5705856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8A0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058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23160" y="5513832"/>
            <a:ext cx="9052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인바디와 8~12주 PoC — 정량 데이터 × 수업 맥락의 재방문 효과 검증.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가치는 '그 순간의 말과 감각'인데, 끝나면 사라진다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3840480"/>
          </a:xfrm>
          <a:prstGeom prst="roundRect">
            <a:avLst>
              <a:gd name="adj" fmla="val 16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일어나는 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지도자의 교정·큐잉·언어가 핵심 데이터다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귀가와 동시에 빠르게 흐려진다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'수련 수첩'은 실패 — 수십 명 피드백을 손으로 못 남긴다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손실: 수업 중 포착한 영감이 기록 시점에 휘발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3840480"/>
          </a:xfrm>
          <a:prstGeom prst="roundRect">
            <a:avLst>
              <a:gd name="adj" fmla="val 1667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리뷰가 증명하는 통점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“그날 얻은 교정 피드백이 일회성으로 사라진다”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“몸 사용법을 다시 배웠는데, 집에 가면 흐려진다”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123건(3.5년치) 역순 분석 결과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03 리뷰 123건 역순 분석 · 노트 04 5/13 기획회의 · 모두의창업 지원서 Q2.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도구는 저마다 '일부'만 기록한다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CRM (바디코디)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결제 · 회원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예약앱 (오붓)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접근 · 유입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전사앱 (Tiro)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→ 텍스트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187452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5256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25603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몸의 정량 수치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 비어 있는 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94560" y="4160520"/>
            <a:ext cx="7772400" cy="1417320"/>
          </a:xfrm>
          <a:prstGeom prst="roundRect">
            <a:avLst>
              <a:gd name="adj" fmla="val 4516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77440" y="4343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안에서 오간 </a:t>
            </a:r>
            <a:pPr algn="ctr" indent="0" marL="0">
              <a:buNone/>
            </a:pPr>
            <a:r>
              <a:rPr lang="en-US" sz="2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· 피드백 · 감각 · 반응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momso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377440" y="4892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몸의 변화가 '어떤 수업 맥락에서' 만들어졌는지를 설명한다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06 · 노트 08 경쟁 지형. 바디코디 4,000개 센터·앱 사용자 170만+(회사 공개 수치).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 수업은 '단순히 녹음해서 공유할 콘텐츠'가 아니다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1874520"/>
            <a:ext cx="7406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통증·감정·사적 대화가 동의 항목 밖에서 섞인다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401568"/>
            <a:ext cx="502920" cy="502920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10896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 정보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108960"/>
            <a:ext cx="7406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수업: A의 리포트에 B·C 정보가 혼입될 위험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636008"/>
            <a:ext cx="502920" cy="502920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34340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지도자 노하우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4343400"/>
            <a:ext cx="7406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시퀀스·큐잉은 경쟁력 — TTC 교육 자산 유출 우려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그래서 momso는 동의 · 필터링 · 강사 검수 · 노출 통제를 '핵심 기능'으로 둔다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07 피치덱 v3 · 노트 09 유동환 요가 도메인 우려 → 제품 전략.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전 → 중 → 후 → 다음으로 도는 기록 흐름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참고 지표 · 오늘의 기록 초점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90672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9856" y="20116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02736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2736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2736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보호 녹음 · 원본 비공개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61888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91072" y="20116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3952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 → 강사 검수 → 개인 리포트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33104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62288" y="2011680"/>
            <a:ext cx="2651760" cy="2377440"/>
          </a:xfrm>
          <a:prstGeom prst="roundRect">
            <a:avLst>
              <a:gd name="adj" fmla="val 2692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45168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45168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45168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검수된 기록이 관찰 포인트로 환류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보고 끝나는 회의록이 아니라, </a:t>
            </a:r>
            <a:pPr algn="ctr" indent="0" marL="0">
              <a:buNone/>
            </a:pPr>
            <a:r>
              <a:rPr lang="en-US" sz="1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수업에서 다시 회수되는 수업 지식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06 · 노트 13 ai위키 프로토타입(회수 루프).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— 강사용 작업 흐름 5단계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92808"/>
            <a:ext cx="548640" cy="54864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25880" y="1783080"/>
            <a:ext cx="10287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1783080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7830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수업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389120" y="178308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수업·참여 수련생 선택 → AI 위키(RAG) 검색 범위가 좁혀짐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548640" cy="54864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25880" y="2624328"/>
            <a:ext cx="10287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25880" y="2624328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262432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 녹음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389120" y="2624328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강사만 기록 시작 · 민감 구간 제외 · 원본 기본 비공개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25880" y="3465576"/>
            <a:ext cx="10287000" cy="749808"/>
          </a:xfrm>
          <a:prstGeom prst="roundRect">
            <a:avLst>
              <a:gd name="adj" fmla="val 853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00200" y="346557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작업대 · 검수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389120" y="3465576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'대화의 초점' 단위로 분류 → 강사가 공유/내부/보류/제외 확정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416552"/>
            <a:ext cx="548640" cy="54864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25880" y="4306824"/>
            <a:ext cx="10287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25880" y="4306824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9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430682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 리포트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389120" y="4306824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확정 문장만 발행 · 인바디 참고 지표 · 감각 메모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325880" y="5148072"/>
            <a:ext cx="10287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325880" y="514807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9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514807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맥락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389120" y="5148072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기록이 다음 수업의 관찰 포인트로 돌아옴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11 프로토타입 · 노트 13 ai위키 프로토타입(초점 검수) · PRD v1.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PRINCIPLE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제품을 관통하는 HITL 5원칙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초안만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검수해 공유/내부/보류/제외로 확정 · 자동 발송 금지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71600" y="2606040"/>
            <a:ext cx="10241280" cy="0"/>
          </a:xfrm>
          <a:prstGeom prst="line">
            <a:avLst/>
          </a:prstGeom>
          <a:noFill/>
          <a:ln w="12700">
            <a:solidFill>
              <a:srgbClr val="2E66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7004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71600" y="2670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비공개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267004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음성·전체 전사본은 기본 비공개 · 검수된 문장만 발행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71600" y="3447288"/>
            <a:ext cx="10241280" cy="0"/>
          </a:xfrm>
          <a:prstGeom prst="line">
            <a:avLst/>
          </a:prstGeom>
          <a:noFill/>
          <a:ln w="12700">
            <a:solidFill>
              <a:srgbClr val="2E66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1129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35112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 무단 녹음 금지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0" y="3511296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 앱엔 녹음 기능 없음 · 강사·요가원 노하우 보호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71600" y="4288536"/>
            <a:ext cx="10241280" cy="0"/>
          </a:xfrm>
          <a:prstGeom prst="line">
            <a:avLst/>
          </a:prstGeom>
          <a:noFill/>
          <a:ln w="12700">
            <a:solidFill>
              <a:srgbClr val="2E6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35254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71600" y="43525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인바디는 참고 지표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0" y="4352544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‘진단·평가·처방 아님’ — 면책을 화면에 명시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371600" y="5129784"/>
            <a:ext cx="10241280" cy="0"/>
          </a:xfrm>
          <a:prstGeom prst="line">
            <a:avLst/>
          </a:prstGeom>
          <a:noFill/>
          <a:ln w="12700">
            <a:solidFill>
              <a:srgbClr val="2E66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19379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371600" y="519379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수업으로 환류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0" y="519379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1회성 리포트가 아니라 누적되는 수업 아카이브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3계층 + 발행 게이트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0440" cy="2651760"/>
          </a:xfrm>
          <a:prstGeom prst="roundRect">
            <a:avLst>
              <a:gd name="adj" fmla="val 2414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 (원본)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녹음·전체 전사·미검수 초안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소유 · 기본 비공개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05072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15968" y="1920240"/>
            <a:ext cx="3520440" cy="2651760"/>
          </a:xfrm>
          <a:prstGeom prst="roundRect">
            <a:avLst>
              <a:gd name="adj" fmla="val 241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44568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44568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초점·태그·수련생·RAG 색인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44568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위키의 ‘지도’ · 다음 수업 재사용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83296" y="1920240"/>
            <a:ext cx="3520440" cy="2651760"/>
          </a:xfrm>
          <a:prstGeom prst="roundRect">
            <a:avLst>
              <a:gd name="adj" fmla="val 2414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11896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shareable  (공유)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11896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확정한 리포트만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11896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 앱 · API · SNS 확장 기반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846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게이트:  </a:t>
            </a:r>
            <a:pPr algn="ctr" indent="0" marL="0">
              <a:buNone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‘공유’로 확정한 문장이 1개 이상일 때만 발행 가능 — 검수가 바뀌면 발행은 자동 무효화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11 · 노트 13. 앱 화면엔 내부 설계어 대신 사용자 언어만 노출(원본 숨김/강사 검수/검수본만 발행).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스크린샷이 아니라, 클릭 가능한 모바일 웹앱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212080" cy="2651760"/>
          </a:xfrm>
          <a:prstGeom prst="roundRect">
            <a:avLst>
              <a:gd name="adj" fmla="val 2414"/>
            </a:avLst>
          </a:prstGeom>
          <a:solidFill>
            <a:srgbClr val="1F4A41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강사용 · 5탭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 →  녹음  →  검수  →  리포트  →  다음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114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초안을 ‘초점 단위’로 검수 · 공유 확정만 발행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120640" cy="2651760"/>
          </a:xfrm>
          <a:prstGeom prst="roundRect">
            <a:avLst>
              <a:gd name="adj" fmla="val 2414"/>
            </a:avLst>
          </a:prstGeom>
          <a:solidFill>
            <a:srgbClr val="1F4A41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수련생용 · 4탭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 →  리포트  →  아카이브  →  연결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4114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검수된 리포트만 수신 · 원본·전체 전사 비공개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URL:  momso.vercel.app    ·    제출 PDF에 클릭 가능한 링크로 삽입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시장은 '요가 단독'이 아니라 프리미엄 참여형 스튜디오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3749040"/>
          </a:xfrm>
          <a:prstGeom prst="roundRect">
            <a:avLst>
              <a:gd name="adj" fmla="val 170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요가만으로 정의하지 않나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요가원·필라테스 단독 공식 통계가 약하다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언어·피드백이 자산이 되는 업장은 공통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요가 + 필라테스 + PT 프리미엄 케어 스튜디오로 정의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3749040"/>
          </a:xfrm>
          <a:prstGeom prst="roundRect">
            <a:avLst>
              <a:gd name="adj" fmla="val 1707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타깃 (가장 까다로운 첫 시장)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6517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개인 수업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2~4인 소그룹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케어형 요가·필라테스·PT 스튜디오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4983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그룹은 초기 매출보다 PoC·브랜드 실험장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 시장·BM 검증 · 노트 09 도메인 전략(타깃 축소).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· SAM · SOM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00888" y="1874520"/>
            <a:ext cx="10789920" cy="841248"/>
          </a:xfrm>
          <a:prstGeom prst="roundRect">
            <a:avLst>
              <a:gd name="adj" fmla="val 6522"/>
            </a:avLst>
          </a:prstGeom>
          <a:solidFill>
            <a:srgbClr val="163F38"/>
          </a:solidFill>
          <a:ln/>
        </p:spPr>
      </p:sp>
      <p:sp>
        <p:nvSpPr>
          <p:cNvPr id="7" name="Text 5"/>
          <p:cNvSpPr/>
          <p:nvPr/>
        </p:nvSpPr>
        <p:spPr>
          <a:xfrm>
            <a:off x="975208" y="187452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통계 (참고)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52648" y="1874520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스포츠산업 사업체 131,764  ·  스포츠시설업 49,082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69568" y="2834640"/>
            <a:ext cx="9052560" cy="841248"/>
          </a:xfrm>
          <a:prstGeom prst="roundRect">
            <a:avLst>
              <a:gd name="adj" fmla="val 6522"/>
            </a:avLst>
          </a:prstGeom>
          <a:solidFill>
            <a:srgbClr val="2E6657"/>
          </a:solidFill>
          <a:ln/>
        </p:spPr>
      </p:sp>
      <p:sp>
        <p:nvSpPr>
          <p:cNvPr id="10" name="Text 8"/>
          <p:cNvSpPr/>
          <p:nvPr/>
        </p:nvSpPr>
        <p:spPr>
          <a:xfrm>
            <a:off x="1843888" y="283464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Middle TAM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21328" y="2834640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3.6만~3.9만 개  →  약 1,470~2,060억 원   [추정]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38248" y="3794760"/>
            <a:ext cx="7315200" cy="841248"/>
          </a:xfrm>
          <a:prstGeom prst="roundRect">
            <a:avLst>
              <a:gd name="adj" fmla="val 6522"/>
            </a:avLst>
          </a:prstGeom>
          <a:solidFill>
            <a:srgbClr val="7FA899"/>
          </a:solidFill>
          <a:ln/>
        </p:spPr>
      </p:sp>
      <p:sp>
        <p:nvSpPr>
          <p:cNvPr id="13" name="Text 11"/>
          <p:cNvSpPr/>
          <p:nvPr/>
        </p:nvSpPr>
        <p:spPr>
          <a:xfrm>
            <a:off x="2712568" y="379476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90008" y="379476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4,000~8,000 개  →  약 163~422억 원   [추정]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06928" y="475488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C8A04A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248" y="475488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 (3년차)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58688" y="475488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500개  ·  공격 1,000개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08. 공식=문체부 스포츠산업조사. 기타 스포츠 교육기관 23,483·체력단련장 12,669~15,548은 2차 대리 지표[추정]. 요가원 단독 통계 단정 금지.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 — 지금이 적기인 이유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0240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인바디의 위기감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920240"/>
            <a:ext cx="7498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기반 AI 체형분석기(Exbody·Bodydot)가 부상 — 인바디는 데이터의 새 활용처가 필요하다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218688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현장에 닿는 시점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3218688"/>
            <a:ext cx="7498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전사·요약·RAG 기술이 수업 현장에서 실제로 쓸 만한 수준에 도달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17136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517136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요가의 기록 계층 부재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4517136"/>
            <a:ext cx="7498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비정형·블랙박스 — 지도자도 맞는 수련생을, 수련생도 맞는 요가원을 못 찾는다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 경쟁·시장 · 노트 12 제품·전략 회의(인바디 위기감).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지형 — momso는 비어 있는 사분면에 들어간다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011680" y="1783080"/>
            <a:ext cx="7955280" cy="3657600"/>
          </a:xfrm>
          <a:prstGeom prst="rect">
            <a:avLst/>
          </a:prstGeom>
          <a:solidFill>
            <a:srgbClr val="F3F6F4"/>
          </a:solidFill>
          <a:ln/>
        </p:spPr>
      </p:sp>
      <p:sp>
        <p:nvSpPr>
          <p:cNvPr id="7" name="Shape 5"/>
          <p:cNvSpPr/>
          <p:nvPr/>
        </p:nvSpPr>
        <p:spPr>
          <a:xfrm>
            <a:off x="5989320" y="1783080"/>
            <a:ext cx="0" cy="3657600"/>
          </a:xfrm>
          <a:prstGeom prst="line">
            <a:avLst/>
          </a:prstGeom>
          <a:noFill/>
          <a:ln w="19050">
            <a:solidFill>
              <a:srgbClr val="C9D6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611880"/>
            <a:ext cx="7955280" cy="0"/>
          </a:xfrm>
          <a:prstGeom prst="line">
            <a:avLst/>
          </a:prstGeom>
          <a:noFill/>
          <a:ln w="19050">
            <a:solidFill>
              <a:srgbClr val="C9D6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· 수업 맥락 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정량 · 신체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11680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운영 관리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80960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기록 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93162" y="2651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FA899"/>
          </a:solidFill>
          <a:ln/>
        </p:spPr>
      </p:sp>
      <p:sp>
        <p:nvSpPr>
          <p:cNvPr id="14" name="Text 12"/>
          <p:cNvSpPr/>
          <p:nvPr/>
        </p:nvSpPr>
        <p:spPr>
          <a:xfrm>
            <a:off x="2893162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9584" y="2212848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FA899"/>
          </a:solidFill>
          <a:ln/>
        </p:spPr>
      </p:sp>
      <p:sp>
        <p:nvSpPr>
          <p:cNvPr id="16" name="Text 14"/>
          <p:cNvSpPr/>
          <p:nvPr/>
        </p:nvSpPr>
        <p:spPr>
          <a:xfrm>
            <a:off x="3529584" y="2212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체형분석기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34056" y="4261104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FA899"/>
          </a:solidFill>
          <a:ln/>
        </p:spPr>
      </p:sp>
      <p:sp>
        <p:nvSpPr>
          <p:cNvPr id="18" name="Text 16"/>
          <p:cNvSpPr/>
          <p:nvPr/>
        </p:nvSpPr>
        <p:spPr>
          <a:xfrm>
            <a:off x="2734056" y="4261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바디코디·오붓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75274" y="30175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FA899"/>
          </a:solidFill>
          <a:ln/>
        </p:spPr>
      </p:sp>
      <p:sp>
        <p:nvSpPr>
          <p:cNvPr id="20" name="Text 18"/>
          <p:cNvSpPr/>
          <p:nvPr/>
        </p:nvSpPr>
        <p:spPr>
          <a:xfrm>
            <a:off x="6075274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Tiro (전사)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19518" y="243230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19518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08. momso = 수업 기록 × 정성 맥락(우상단) — 기존 도구를 대체하지 않고 그 위에 얹힌다.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— 대체하지 않고 '위에 얹힌다'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바디코디는 </a:t>
            </a:r>
            <a:pPr indent="0" marL="0">
              <a:buNone/>
            </a:pPr>
            <a:r>
              <a:rPr lang="en-US" sz="1700" b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운영</a:t>
            </a:r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을, momso는 </a:t>
            </a:r>
            <a:pPr indent="0" marL="0">
              <a:buNone/>
            </a:pPr>
            <a:r>
              <a:rPr lang="en-US" sz="1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경험</a:t>
            </a:r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기록한다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오붓은 </a:t>
            </a:r>
            <a:pPr indent="0" marL="0">
              <a:buNone/>
            </a:pPr>
            <a:r>
              <a:rPr lang="en-US" sz="1700" b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 가게</a:t>
            </a:r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하고, momso는 </a:t>
            </a:r>
            <a:pPr indent="0" marL="0">
              <a:buNone/>
            </a:pPr>
            <a:r>
              <a:rPr lang="en-US" sz="1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남게</a:t>
            </a:r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Tiro는 </a:t>
            </a:r>
            <a:pPr indent="0" marL="0">
              <a:buNone/>
            </a:pPr>
            <a:r>
              <a:rPr lang="en-US" sz="1700" b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음성을 글로</a:t>
            </a:r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momso는 </a:t>
            </a:r>
            <a:pPr indent="0" marL="0">
              <a:buNone/>
            </a:pPr>
            <a:r>
              <a:rPr lang="en-US" sz="1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수업을 수련 기록으로</a:t>
            </a:r>
            <a:pPr indent="0" marL="0">
              <a:buNone/>
            </a:pPr>
            <a:r>
              <a:rPr lang="en-US" sz="17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바꾼다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인접 — 포인티(PT 운동기록): momso는 요가의 언어·호흡·감각·정렬에 특화해 구분된다.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06 · 노트 08(GPT 거시 포지셔닝 답변).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발레파킹 · Web2.5 — 데이터는 고객, 운영은 momso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3749040"/>
          </a:xfrm>
          <a:prstGeom prst="roundRect">
            <a:avLst>
              <a:gd name="adj" fmla="val 170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발레파킹 비유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차(데이터)도 차고지(저장소)도 고객의 것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momso는 ‘주차(정리·운영)’만 대행한다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= 데이터 소유료가 아니라 운영 자동화 비용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‘중요하나 귀찮은 일’ 대행 → J-커브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3749040"/>
          </a:xfrm>
          <a:prstGeom prst="roundRect">
            <a:avLst>
              <a:gd name="adj" fmla="val 1707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평면 분리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2606040"/>
            <a:ext cx="4937760" cy="1188720"/>
          </a:xfrm>
          <a:prstGeom prst="roundRect">
            <a:avLst>
              <a:gd name="adj" fmla="val 4615"/>
            </a:avLst>
          </a:prstGeom>
          <a:solidFill>
            <a:srgbClr val="1F4A41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plane — 고객 소유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녹음·교재·시퀀스·감각 기록 (momso 서버에 장기 보관 안 함, export 가능)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393192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F4A41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 — momso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43891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동의·전사·검수·발행·권한·비용·요가원별 기록 문법(style memory) 운영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10 제품철학·발레파킹 BM · 노트 12(6/3 통화서 BM 확정). 외부 표현은 ‘Web3’ 전면화 금지.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구조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5760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가격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· 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B2C 기록권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5,000~7,000원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수련생 개인 수련 기록권 (저장비 아닌 ‘기록·리포트’로 포지셔닝)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PoC · 파운딩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무료~4.9만원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검증 · 협력 요가원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Software Basic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4.9~9.9만원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기록·검수·발행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Studio Pro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15~30만원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기록+리포트+세팅 — 프리미엄 패키지(바디코디 약정가 15.84만 앵커)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InBody Partner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30만원+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인바디 연동형 (별도 협의)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07 피치덱 v3(BM) · 노트 08. ’30만원’은 단순 SaaS(시장가 15~22만)가 아니라 프리미엄 패키지일 때 방어. [가정] 전환율·믹스는 미검증.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경제 (요가원 1곳 기준)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31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34만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ARPA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20만 + 수련생 20명 × 7천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연 408만 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70832" y="2331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44만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53712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ARPA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3886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30만 + 수련생 20명 × 7천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연 528만 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3024" y="201168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93024" y="2331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→ 30명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75904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수련생 [가정]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75904" y="3886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5~10 · 성숙 20 · 공격 30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(보수가 아닌 성숙 기준)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 BM 정정표(GPT 검증). ‘유료 20명’은 보수가 아니라 성숙 파트너 기준 — 초기엔 5~10명 [가정].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3년차 매출 시나리오 — 발표 기준은 500개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828800"/>
            <a:ext cx="3749040" cy="3657600"/>
          </a:xfrm>
          <a:prstGeom prst="roundRect">
            <a:avLst>
              <a:gd name="adj" fmla="val 1750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60억의 진실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92440" y="26060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기준 = 500개 = 20~26억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‘연 60억’은 1,000개 + 유료 30명(월 51만) 조건의 공격 시나리오에서만 = 61.2억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 BM 정정표·GPT 스팟체크. 60억은 기준 전망이 아니라 ‘조건부 공격 시나리오’로만 제시.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경로 — 빅블루에서 검증하고 웰니스로 넓힌다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822960" cy="822960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331720" y="2423160"/>
            <a:ext cx="1097280" cy="0"/>
          </a:xfrm>
          <a:prstGeom prst="line">
            <a:avLst/>
          </a:prstGeom>
          <a:noFill/>
          <a:ln w="25400">
            <a:solidFill>
              <a:srgbClr val="7FA89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빅블루 요가 자체 PoC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연희동 · 현장 검증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2011680"/>
            <a:ext cx="822960" cy="82296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13" name="Text 11"/>
          <p:cNvSpPr/>
          <p:nvPr/>
        </p:nvSpPr>
        <p:spPr>
          <a:xfrm>
            <a:off x="4334256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202936" y="2423160"/>
            <a:ext cx="1097280" cy="0"/>
          </a:xfrm>
          <a:prstGeom prst="line">
            <a:avLst/>
          </a:prstGeom>
          <a:noFill/>
          <a:ln w="25400">
            <a:solidFill>
              <a:srgbClr val="7FA8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419856" y="310896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02736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연희동 로컬 3~5곳 베타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02736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케어 스튜디오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05472" y="2011680"/>
            <a:ext cx="822960" cy="82296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19" name="Text 17"/>
          <p:cNvSpPr/>
          <p:nvPr/>
        </p:nvSpPr>
        <p:spPr>
          <a:xfrm>
            <a:off x="7205472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074152" y="2423160"/>
            <a:ext cx="1097280" cy="0"/>
          </a:xfrm>
          <a:prstGeom prst="line">
            <a:avLst/>
          </a:prstGeom>
          <a:noFill/>
          <a:ln w="25400">
            <a:solidFill>
              <a:srgbClr val="7FA89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91072" y="310896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 + 필라테스 + PT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73952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참여형 스튜디오 확장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076688" y="2011680"/>
            <a:ext cx="822960" cy="82296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6688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9162288" y="310896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45168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명상·재활·시니어·기업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345168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 전체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모두의창업 지원서 Q4 로드맵 · 노트 01 시간선 · 노트 09 도메인 확장.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획득 전략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21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맛보기 스푼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전 AI 챗봇으로 수업 스타일을 미리 체험 → 신규 탐색 비용·이탈 감소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21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수련생 → 원장 (바이럴)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6334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앱이 매력적이면 수련생이 원장에게 도입을 요청한다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995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FGI · 진성 데이터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0799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 대신 녹음 기반 인터뷰로 진실한 사용자 데이터 (수련권 보상)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79476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3995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연희동 네트워크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450799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연희 요가 축제 1,664명 참여 · 9개 요가원 연합 기반 [근거]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04 5/13 회의(맛보기 스푼) · 노트 12(바이럴·FGI) · 모두의창업 지원서(연희 요가 축제 1,664명).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추정 — 시나리오와 가정을 분리한다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7432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3년차 업장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ARPA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프리미엄 ARPA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15.8억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3F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(발표)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3F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3F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3F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26.4억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E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40.8억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52.8억 (+30명 시 61.2억)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9768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[가정] — 아직 데이터가 없어 가정으로 표시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전환율 · 해지율 · CAC · 업장당 유료 수련생 믹스 · 초기 자본 · 런웨이 — PoC(7~11월)에서 실측 예정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 BM 정정표. 매출=업장 수 × ARPA의 단순 추정 [추정]. 비용·마진은 다음 장.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· 마진 구조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비용 통제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0" y="187452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momso가 먼저 부담 → ‘구독 + 포함량 + 초과 과금’. 무제한 AI 금지로 gross margin 방어.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3464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BYOK (프리미엄)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2834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자기 Claude·API 키 연결 시 AI 비용 고객 부담 + 할인(예: 월 1만 → 3,300원).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9476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= 고객 소유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379476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고객 저장소(예: 네이버 클라우드)에 — momso 서버 보관비 최소화.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75488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J-커브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0" y="475488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누적 → 이탈비용↑ · B2B(업장) + B2C(기록권) 결합으로 ARPA 상승.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10 발레파킹 BM(비용 모델) · 노트 12(BYOK·단일 LLM=Claude).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로드맵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2606040"/>
            <a:ext cx="0" cy="1024128"/>
          </a:xfrm>
          <a:prstGeom prst="line">
            <a:avLst/>
          </a:prstGeom>
          <a:noFill/>
          <a:ln w="25400">
            <a:solidFill>
              <a:srgbClr val="7FA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965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하반기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49040" y="1965960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0" y="2084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빅블루 기술 고도화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023360" y="24963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STT·요약·검수·리포트 발송·학생별 기록방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384048" cy="384048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" y="3904488"/>
            <a:ext cx="0" cy="1024128"/>
          </a:xfrm>
          <a:prstGeom prst="line">
            <a:avLst/>
          </a:prstGeom>
          <a:noFill/>
          <a:ln w="25400">
            <a:solidFill>
              <a:srgbClr val="7FA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26440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49040" y="3264408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연희동 로컬 확산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02336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5~10곳 · 요가원별 모델 표준화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18888"/>
            <a:ext cx="384048" cy="384048"/>
          </a:xfrm>
          <a:prstGeom prst="ellipse">
            <a:avLst/>
          </a:prstGeom>
          <a:solidFill>
            <a:srgbClr val="C8A04A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56285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하반기~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49040" y="4562856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4681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웰니스 확장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023360" y="5093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필라테스·PT·명상 + 평생 웰니스 기록 앱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모두의창업 지원서 Q4 · 노트 01 시간선.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InBodyLIKE 육성 · PoC 계획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3749040"/>
          </a:xfrm>
          <a:prstGeom prst="roundRect">
            <a:avLst>
              <a:gd name="adj" fmla="val 1707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규모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육성: 2026-07-20 ~ 11-13 (약 4개월)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PoC: 8~12주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빅블루 요가 + 연희동 3~5곳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수련생 30~80명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3749040"/>
          </a:xfrm>
          <a:prstGeom prst="roundRect">
            <a:avLst>
              <a:gd name="adj" fmla="val 1707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정량 데이터 × 수업 맥락 기록의 결합 효용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상담·수련 지속·재방문으로 이어지는가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검수(HITL) 워크플로우의 현장 적용성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연동: 초기엔 결과지 업로드 → 이후 API 협의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02 두 공모전(일정) · 노트 07 사업계획서 · 노트 08(인바디 API는 계약·승인 필요 → 초기는 결과지 업로드).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협업 포인트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DDE9E3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— 요가 도메인 · 현장 검증 · 매뉴얼 설계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— 측정 인프라 · 정량 데이터 · 리포트 공동 검토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74520"/>
            <a:ext cx="544068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5240">
            <a:solidFill>
              <a:srgbClr val="DDE9E3"/>
            </a:solidFill>
            <a:prstDash val="solid"/>
          </a:ln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5종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5146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해석 · 안전 표현 멘토링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환경(InBody270S·380 등) 협력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UX 공동 검토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8~12주 공동 PoC (빅블루 + 로컬 3~5곳)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사업화 · 글로벌 확장 멘토링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480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“momSO는 장비 판매 앱이 아니라, 인바디 데이터가 웰니스 현장에서 수업 경험·재방문으로 이어지는지 검증하는 레이어다.”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07 사업계획서 5항목(인바디 협업) · 노트 08 인바디 연동 타당성.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— 현장과 기술의 결합 (50:50 공동대표)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3566160"/>
          </a:xfrm>
          <a:prstGeom prst="roundRect">
            <a:avLst>
              <a:gd name="adj" fmla="val 179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40280"/>
            <a:ext cx="914400" cy="91440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6596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유동환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965960" y="2743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공동대표 · 요가 도메인 / 현장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빅블루 요가 운영 (연희동)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설계·현장 PoC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연희동 웰니스 네트워크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3566160"/>
          </a:xfrm>
          <a:prstGeom prst="roundRect">
            <a:avLst>
              <a:gd name="adj" fmla="val 179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240280"/>
            <a:ext cx="914400" cy="914400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895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김성균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89520" y="2743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6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공동대표 · 전략 / 기술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38328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제품·전략·포지셔닝 설계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기록 흐름·리포트 구조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리서치·문서화·파트너 협의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07 사업계획서(Team) · 노트 04 5/13 회의(50:50 공동대표).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&amp; SAFEGUARDS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안전장치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762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76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614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동의·필터링·원본 비공개·회원별 분리 (개인정보보호법 민감정보 관점)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1762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76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표현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7614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‘진단·처방’ 금지 → ‘참고·경향·수련 흐름’으로 표현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5079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0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주권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6360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소유 · 삭제·정정 요청 · AI 학습 미사용 조건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405079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50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 게이트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6360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초안만 · 강사 검수 후에만 발행 (자동 발송 차단)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06 HITL · 노트 09 도메인 우려 · 안전/접근성 기준선(개인정보보호법·NIST HITL 참고).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인바디의 정량 데이터  ×  momso의 수업 맥락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웰니스에 빠져 있던 '기록 계층'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41248" y="3566160"/>
            <a:ext cx="2926080" cy="0"/>
          </a:xfrm>
          <a:prstGeom prst="line">
            <a:avLst/>
          </a:prstGeom>
          <a:noFill/>
          <a:ln w="25400">
            <a:solidFill>
              <a:srgbClr val="C8A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비전 — 사람과 사람의 소통이 안전하고, 진실되고, 오래 지속되도록.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 ·  몸소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빅블루 요가  ·  유동환 · 김성균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사업계획서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momso × InBodyLIKE 사업계획서</dc:title>
  <dc:subject>PptxGenJS Presentation</dc:subject>
  <dc:creator>빅블루 요가 (momso)</dc:creator>
  <cp:lastModifiedBy>빅블루 요가 (momso)</cp:lastModifiedBy>
  <cp:revision>1</cp:revision>
  <dcterms:created xsi:type="dcterms:W3CDTF">2026-06-07T18:05:40Z</dcterms:created>
  <dcterms:modified xsi:type="dcterms:W3CDTF">2026-06-07T18:05:40Z</dcterms:modified>
</cp:coreProperties>
</file>